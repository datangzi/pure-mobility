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92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AFFE13-D210-4516-9C4C-1D98DEC52801}" type="datetimeFigureOut">
              <a:rPr lang="de-DE" smtClean="0"/>
              <a:t>08.06.2026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BFEFB3-8DBA-4146-8963-FE6109E91E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0547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FEFB3-8DBA-4146-8963-FE6109E91EC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0035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9D1987-5BAB-62AC-60E9-C6B2A115C2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75A6E90-3B7D-A1A7-52DC-997DC7B0C9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7E227E-BA76-6E8B-B1C2-03A9A448D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A3835-D81B-4D0F-A65B-E0B31A8C623E}" type="datetimeFigureOut">
              <a:rPr lang="de-DE" smtClean="0"/>
              <a:t>07.06.2026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6B24465-9E3A-594C-0DDA-97E4D009E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C36E81A-D34B-710E-61B4-217AFC069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4DE9E-4A6C-4246-8C8F-4523DA28DC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1798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56B371-6D2F-FCC3-A511-74D75904F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1DCC80-ABDF-B43F-9735-9770B5ED0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524397-FCB4-29D3-A8B0-20D5C87CD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A3835-D81B-4D0F-A65B-E0B31A8C623E}" type="datetimeFigureOut">
              <a:rPr lang="de-DE" smtClean="0"/>
              <a:t>07.06.2026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508151-1846-283F-20D6-1367FB229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4C795D-7074-571D-17EC-DB2FD333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4DE9E-4A6C-4246-8C8F-4523DA28DC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3323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E1C03C-65E6-FEEE-D62B-6ACCF7F5E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F5C74CD-17DF-C029-658E-73C4EEBF2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5250D5F-B6B0-2D57-2F35-AC895B2D3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A3835-D81B-4D0F-A65B-E0B31A8C623E}" type="datetimeFigureOut">
              <a:rPr lang="de-DE" smtClean="0"/>
              <a:t>07.06.2026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0B45C1-DB14-EB89-E6F4-3B1EB39BE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BDFF4EF-619F-B8E5-24F9-3C6EEA0D0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4DE9E-4A6C-4246-8C8F-4523DA28DC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0295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47937B-05E5-D2EE-2639-01E654C22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7F0B0C-6644-8666-7374-1720D6250A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1FD5F8E-3DA2-824A-A0EF-05F8AE60EE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490898A-BE31-2EC2-1B97-028D158CF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A3835-D81B-4D0F-A65B-E0B31A8C623E}" type="datetimeFigureOut">
              <a:rPr lang="de-DE" smtClean="0"/>
              <a:t>07.06.2026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68AEDB4-55D1-01C8-1AA6-54E576D43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9979C49-A4A6-FDC3-8034-EDBF31F7D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4DE9E-4A6C-4246-8C8F-4523DA28DC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205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3750C8-C497-8EEC-7D87-C765BC750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0A86E77-487E-4473-77E2-B0C792201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E4FAFF5-E46E-872F-DB05-9AC05F39E6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202C8CE-DD77-3ABE-6AF4-9C6BCABA7C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33213B1-D09B-3110-2D9A-66234DB3D5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2C5DB2D-36F1-539A-D7BC-908D1EDDA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A3835-D81B-4D0F-A65B-E0B31A8C623E}" type="datetimeFigureOut">
              <a:rPr lang="de-DE" smtClean="0"/>
              <a:t>07.06.2026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F7F7CDD-3AB1-9C52-EF63-7289A920F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7803E79-2793-338C-61D2-01FEB54EA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4DE9E-4A6C-4246-8C8F-4523DA28DC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0649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96FAC9-3EBD-E18E-4E1D-9EB6A0B46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377915D-71DC-2E7F-23A6-ED950174C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A3835-D81B-4D0F-A65B-E0B31A8C623E}" type="datetimeFigureOut">
              <a:rPr lang="de-DE" smtClean="0"/>
              <a:t>07.06.2026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744B018-E303-69B2-D002-91460305F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BF36A55-20E3-F890-AFED-8ADDD6285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4DE9E-4A6C-4246-8C8F-4523DA28DC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1618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7E67D46-31EF-C95A-2AAD-C65F3C4D8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A3835-D81B-4D0F-A65B-E0B31A8C623E}" type="datetimeFigureOut">
              <a:rPr lang="de-DE" smtClean="0"/>
              <a:t>07.06.2026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BBA2528-BC5E-353E-8A02-6C16BF03B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1408693-F460-B8DD-0473-5E469087C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4DE9E-4A6C-4246-8C8F-4523DA28DC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6452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7AC529-B472-5BA2-0548-DBDF7DFF9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CA4820-26FA-8371-8D2D-FB3854C00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760F603-6583-E86B-1330-4CFC823C4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D3989D2-FFC3-1205-DC36-474C05FFC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A3835-D81B-4D0F-A65B-E0B31A8C623E}" type="datetimeFigureOut">
              <a:rPr lang="de-DE" smtClean="0"/>
              <a:t>07.06.2026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24BAF4C-7921-8A4E-3183-3A517AD39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A4CB73A-0F69-F9A9-5FE8-32EE3F31E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4DE9E-4A6C-4246-8C8F-4523DA28DC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5774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29970E-1A17-8603-7C07-2A874C1F2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F31B119-D752-612F-535F-144E255D0E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20F735C-81A0-9E08-F193-6349BFCFFA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25156F-90BF-9D91-AD91-C8CC8C223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A3835-D81B-4D0F-A65B-E0B31A8C623E}" type="datetimeFigureOut">
              <a:rPr lang="de-DE" smtClean="0"/>
              <a:t>07.06.2026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1AEA7FC-BA11-2BB9-989B-1FBCD8C6E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EAEEEC-C455-0F59-811B-1997EE099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4DE9E-4A6C-4246-8C8F-4523DA28DC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9342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5F5D44-2FA4-8E8A-0550-61BB462D6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B62CF38-FCEC-B19D-A978-76EB1D2569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F7C98A-D63E-81F7-C9B6-CECDF9694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A3835-D81B-4D0F-A65B-E0B31A8C623E}" type="datetimeFigureOut">
              <a:rPr lang="de-DE" smtClean="0"/>
              <a:t>07.06.2026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3A52C79-3DC7-4D66-FD29-A615A1CB1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D63E253-F977-F722-2565-4AFCEF9B9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4DE9E-4A6C-4246-8C8F-4523DA28DC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8956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6578359-2E8D-B050-C282-E638670E59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2CA06BF-2F8B-A053-BA06-AED17F7CCE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4AD1D6-ECBE-678A-009C-5E993D798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A3835-D81B-4D0F-A65B-E0B31A8C623E}" type="datetimeFigureOut">
              <a:rPr lang="de-DE" smtClean="0"/>
              <a:t>07.06.2026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DCEAE15-FAF2-A4B3-D593-9D8DC476C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EEBA64-D4A0-95DD-C8FE-74CDB1F43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4DE9E-4A6C-4246-8C8F-4523DA28DC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3253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F0AD5CF-4A4F-B077-9A52-01B89D431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80B76AA-9CBB-60B8-54D2-399946E25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288673-9E66-9C12-69E0-28AB31B152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1A3835-D81B-4D0F-A65B-E0B31A8C623E}" type="datetimeFigureOut">
              <a:rPr lang="de-DE" smtClean="0"/>
              <a:t>07.06.2026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938CA3-8A7E-E6C1-B1AD-0500566C88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E9AF32-C036-9E3F-5063-2A52AF2F09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E4DE9E-4A6C-4246-8C8F-4523DA28DC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0255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file:///C:\Users\datan\Downloads\s11116-024-10482-9-1.pdf" TargetMode="External"/><Relationship Id="rId3" Type="http://schemas.openxmlformats.org/officeDocument/2006/relationships/hyperlink" Target="https://elib.dlr.de/127001/1/2019-03_ISS19_Full-Paper_Ulrich-et-al.pdf" TargetMode="External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iva-portal.org/smash/get/diva2:2063116/SUMMARY01.pdf" TargetMode="External"/><Relationship Id="rId5" Type="http://schemas.openxmlformats.org/officeDocument/2006/relationships/hyperlink" Target="https://www.youtube.com/watch?v=7N3elygeUA4" TargetMode="External"/><Relationship Id="rId10" Type="http://schemas.openxmlformats.org/officeDocument/2006/relationships/hyperlink" Target="https://mediatum.ub.tum.de/doc/1735024/h0wqszvd6pm6sa3nscipmfatq.Ride_Parcel_Pooling___Sustainable_Integration_of_Urban_Passenger_Transport_and_City_Logistics%20(5).pdf" TargetMode="External"/><Relationship Id="rId4" Type="http://schemas.openxmlformats.org/officeDocument/2006/relationships/hyperlink" Target="https://www.next-future-mobility.com/scenarios" TargetMode="External"/><Relationship Id="rId9" Type="http://schemas.openxmlformats.org/officeDocument/2006/relationships/hyperlink" Target="https://www.sciencedirect.com/science/article/pii/S019126152500066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D12DFA1E-C22F-802C-37FD-1393EE38EBF7}"/>
              </a:ext>
            </a:extLst>
          </p:cNvPr>
          <p:cNvSpPr/>
          <p:nvPr/>
        </p:nvSpPr>
        <p:spPr>
          <a:xfrm>
            <a:off x="4518212" y="3180790"/>
            <a:ext cx="3155576" cy="8774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>
                <a:solidFill>
                  <a:schemeClr val="tx1"/>
                </a:solidFill>
              </a:rPr>
              <a:t>AMoD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899AF50-8768-8EC5-0141-B9C5E5B8F2C0}"/>
              </a:ext>
            </a:extLst>
          </p:cNvPr>
          <p:cNvSpPr/>
          <p:nvPr/>
        </p:nvSpPr>
        <p:spPr>
          <a:xfrm>
            <a:off x="3957918" y="2001932"/>
            <a:ext cx="1817594" cy="4947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</a:rPr>
              <a:t>Passenger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6B31EF8-C131-DE66-F6FF-E0837FA0E5A1}"/>
              </a:ext>
            </a:extLst>
          </p:cNvPr>
          <p:cNvSpPr/>
          <p:nvPr/>
        </p:nvSpPr>
        <p:spPr>
          <a:xfrm>
            <a:off x="6331323" y="2001931"/>
            <a:ext cx="1817594" cy="4947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</a:rPr>
              <a:t>Parcel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9BC4199-D9EC-B122-C29F-0A886FA0CBD9}"/>
              </a:ext>
            </a:extLst>
          </p:cNvPr>
          <p:cNvSpPr/>
          <p:nvPr/>
        </p:nvSpPr>
        <p:spPr>
          <a:xfrm>
            <a:off x="4976980" y="3730550"/>
            <a:ext cx="2238039" cy="316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err="1">
                <a:solidFill>
                  <a:schemeClr val="tx1"/>
                </a:solidFill>
              </a:rPr>
              <a:t>Autonomous</a:t>
            </a:r>
            <a:r>
              <a:rPr lang="de-DE" sz="800" dirty="0">
                <a:solidFill>
                  <a:schemeClr val="tx1"/>
                </a:solidFill>
              </a:rPr>
              <a:t> Mobility on Demand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C45373F-BBB7-9BEB-47EB-D82F0852F6F0}"/>
              </a:ext>
            </a:extLst>
          </p:cNvPr>
          <p:cNvSpPr/>
          <p:nvPr/>
        </p:nvSpPr>
        <p:spPr>
          <a:xfrm>
            <a:off x="3964417" y="3180790"/>
            <a:ext cx="4306646" cy="8774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>
                <a:solidFill>
                  <a:schemeClr val="tx1"/>
                </a:solidFill>
              </a:rPr>
              <a:t>AMoD + </a:t>
            </a:r>
            <a:r>
              <a:rPr lang="de-DE" sz="3200" dirty="0" err="1">
                <a:solidFill>
                  <a:schemeClr val="tx1"/>
                </a:solidFill>
              </a:rPr>
              <a:t>co</a:t>
            </a:r>
            <a:r>
              <a:rPr lang="de-DE" sz="3200" dirty="0">
                <a:solidFill>
                  <a:schemeClr val="tx1"/>
                </a:solidFill>
              </a:rPr>
              <a:t>-modal</a:t>
            </a:r>
          </a:p>
        </p:txBody>
      </p:sp>
    </p:spTree>
    <p:extLst>
      <p:ext uri="{BB962C8B-B14F-4D97-AF65-F5344CB8AC3E}">
        <p14:creationId xmlns:p14="http://schemas.microsoft.com/office/powerpoint/2010/main" val="351807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7.40741E-7 L 0.10091 0.12801 " pathEditMode="relative" rAng="0" ptsTypes="AA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39" y="6389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7.40741E-7 L -0.09375 0.12801 " pathEditMode="relative" rAng="0" ptsTypes="AA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88" y="6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2.22222E-6 L -2.70833E-6 -0.37547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87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8" grpId="0"/>
      <p:bldP spid="8" grpId="1"/>
      <p:bldP spid="8" grpId="2"/>
      <p:bldP spid="9" grpId="0"/>
      <p:bldP spid="9" grpId="1"/>
      <p:bldP spid="9" grpId="2"/>
      <p:bldP spid="11" grpId="0"/>
      <p:bldP spid="11" grpId="1"/>
      <p:bldP spid="12" grpId="0"/>
      <p:bldP spid="1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7DAC59C8-04AC-7F00-A2B5-DB9972F2CE0C}"/>
              </a:ext>
            </a:extLst>
          </p:cNvPr>
          <p:cNvSpPr/>
          <p:nvPr/>
        </p:nvSpPr>
        <p:spPr>
          <a:xfrm>
            <a:off x="3964417" y="642907"/>
            <a:ext cx="4306646" cy="8774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>
                <a:solidFill>
                  <a:schemeClr val="tx1"/>
                </a:solidFill>
              </a:rPr>
              <a:t>AMoD + </a:t>
            </a:r>
            <a:r>
              <a:rPr lang="de-DE" sz="3200" dirty="0" err="1">
                <a:solidFill>
                  <a:schemeClr val="tx1"/>
                </a:solidFill>
              </a:rPr>
              <a:t>co</a:t>
            </a:r>
            <a:r>
              <a:rPr lang="de-DE" sz="3200" dirty="0">
                <a:solidFill>
                  <a:schemeClr val="tx1"/>
                </a:solidFill>
              </a:rPr>
              <a:t>-modal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E5D2A89-C8A4-5DDE-D762-7C22F0DA63B7}"/>
              </a:ext>
            </a:extLst>
          </p:cNvPr>
          <p:cNvSpPr/>
          <p:nvPr/>
        </p:nvSpPr>
        <p:spPr>
          <a:xfrm>
            <a:off x="5071531" y="1744134"/>
            <a:ext cx="2252133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>
                <a:solidFill>
                  <a:schemeClr val="tx1"/>
                </a:solidFill>
              </a:rPr>
              <a:t>state</a:t>
            </a:r>
            <a:r>
              <a:rPr lang="de-DE" b="1" dirty="0">
                <a:solidFill>
                  <a:schemeClr val="tx1"/>
                </a:solidFill>
              </a:rPr>
              <a:t> </a:t>
            </a:r>
            <a:r>
              <a:rPr lang="de-DE" b="1" dirty="0" err="1">
                <a:solidFill>
                  <a:schemeClr val="tx1"/>
                </a:solidFill>
              </a:rPr>
              <a:t>of</a:t>
            </a:r>
            <a:r>
              <a:rPr lang="de-DE" b="1" dirty="0">
                <a:solidFill>
                  <a:schemeClr val="tx1"/>
                </a:solidFill>
              </a:rPr>
              <a:t> </a:t>
            </a:r>
            <a:r>
              <a:rPr lang="de-DE" b="1" dirty="0" err="1">
                <a:solidFill>
                  <a:schemeClr val="tx1"/>
                </a:solidFill>
              </a:rPr>
              <a:t>art</a:t>
            </a:r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FE4984B7-DD0B-FF4B-E5B1-A54842C3923C}"/>
              </a:ext>
            </a:extLst>
          </p:cNvPr>
          <p:cNvSpPr/>
          <p:nvPr/>
        </p:nvSpPr>
        <p:spPr>
          <a:xfrm>
            <a:off x="9439759" y="1744134"/>
            <a:ext cx="24130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>
                <a:solidFill>
                  <a:schemeClr val="tx1"/>
                </a:solidFill>
              </a:rPr>
              <a:t>research</a:t>
            </a:r>
            <a:r>
              <a:rPr lang="de-DE" b="1" dirty="0">
                <a:solidFill>
                  <a:schemeClr val="tx1"/>
                </a:solidFill>
              </a:rPr>
              <a:t> </a:t>
            </a:r>
            <a:r>
              <a:rPr lang="de-DE" b="1" dirty="0" err="1">
                <a:solidFill>
                  <a:schemeClr val="tx1"/>
                </a:solidFill>
              </a:rPr>
              <a:t>questions</a:t>
            </a:r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8A8EFC1-BDD1-28D5-6B13-7F3FE6E9A88F}"/>
              </a:ext>
            </a:extLst>
          </p:cNvPr>
          <p:cNvSpPr/>
          <p:nvPr/>
        </p:nvSpPr>
        <p:spPr>
          <a:xfrm>
            <a:off x="703306" y="1744134"/>
            <a:ext cx="2252133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>
                <a:solidFill>
                  <a:schemeClr val="tx1"/>
                </a:solidFill>
              </a:rPr>
              <a:t>basic</a:t>
            </a:r>
            <a:r>
              <a:rPr lang="de-DE" b="1" dirty="0">
                <a:solidFill>
                  <a:schemeClr val="tx1"/>
                </a:solidFill>
              </a:rPr>
              <a:t> </a:t>
            </a:r>
            <a:r>
              <a:rPr lang="de-DE" b="1" dirty="0" err="1">
                <a:solidFill>
                  <a:schemeClr val="tx1"/>
                </a:solidFill>
              </a:rPr>
              <a:t>concept</a:t>
            </a:r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C3285FAA-A5F6-A9B8-EED2-F89725BDB7ED}"/>
              </a:ext>
            </a:extLst>
          </p:cNvPr>
          <p:cNvSpPr/>
          <p:nvPr/>
        </p:nvSpPr>
        <p:spPr>
          <a:xfrm>
            <a:off x="555139" y="2421467"/>
            <a:ext cx="2633133" cy="3871105"/>
          </a:xfrm>
          <a:prstGeom prst="roundRect">
            <a:avLst>
              <a:gd name="adj" fmla="val 734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1D22D26-483F-2904-36A6-8F24293DD89F}"/>
              </a:ext>
            </a:extLst>
          </p:cNvPr>
          <p:cNvSpPr/>
          <p:nvPr/>
        </p:nvSpPr>
        <p:spPr>
          <a:xfrm>
            <a:off x="4004730" y="2269068"/>
            <a:ext cx="1981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u="sng" dirty="0" err="1">
                <a:solidFill>
                  <a:schemeClr val="tx1"/>
                </a:solidFill>
              </a:rPr>
              <a:t>vehicle</a:t>
            </a:r>
            <a:r>
              <a:rPr lang="de-DE" u="sng" dirty="0">
                <a:solidFill>
                  <a:schemeClr val="tx1"/>
                </a:solidFill>
              </a:rPr>
              <a:t> </a:t>
            </a:r>
            <a:r>
              <a:rPr lang="de-DE" u="sng" dirty="0" err="1">
                <a:solidFill>
                  <a:schemeClr val="tx1"/>
                </a:solidFill>
              </a:rPr>
              <a:t>concept</a:t>
            </a:r>
            <a:endParaRPr lang="de-DE" u="sng" dirty="0">
              <a:solidFill>
                <a:schemeClr val="tx1"/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2BF49B6-1C9D-63BC-1F04-FF68682DAFCC}"/>
              </a:ext>
            </a:extLst>
          </p:cNvPr>
          <p:cNvSpPr/>
          <p:nvPr/>
        </p:nvSpPr>
        <p:spPr>
          <a:xfrm>
            <a:off x="6525685" y="2269068"/>
            <a:ext cx="2184399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u="sng" dirty="0" err="1">
                <a:solidFill>
                  <a:schemeClr val="tx1"/>
                </a:solidFill>
              </a:rPr>
              <a:t>fleet</a:t>
            </a:r>
            <a:r>
              <a:rPr lang="de-DE" u="sng" dirty="0">
                <a:solidFill>
                  <a:schemeClr val="tx1"/>
                </a:solidFill>
              </a:rPr>
              <a:t> </a:t>
            </a:r>
            <a:r>
              <a:rPr lang="de-DE" u="sng" dirty="0" err="1">
                <a:solidFill>
                  <a:schemeClr val="tx1"/>
                </a:solidFill>
              </a:rPr>
              <a:t>management</a:t>
            </a:r>
            <a:endParaRPr lang="de-DE" u="sng" dirty="0">
              <a:solidFill>
                <a:schemeClr val="tx1"/>
              </a:solidFill>
            </a:endParaRP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961028BD-9FCF-4715-3C0C-D299ACFC6846}"/>
              </a:ext>
            </a:extLst>
          </p:cNvPr>
          <p:cNvSpPr/>
          <p:nvPr/>
        </p:nvSpPr>
        <p:spPr>
          <a:xfrm>
            <a:off x="3780360" y="2973637"/>
            <a:ext cx="2417237" cy="3318935"/>
          </a:xfrm>
          <a:prstGeom prst="roundRect">
            <a:avLst>
              <a:gd name="adj" fmla="val 734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8F5E0612-E5BA-340F-2FF5-95E2366807B1}"/>
              </a:ext>
            </a:extLst>
          </p:cNvPr>
          <p:cNvSpPr/>
          <p:nvPr/>
        </p:nvSpPr>
        <p:spPr>
          <a:xfrm>
            <a:off x="6409265" y="2973637"/>
            <a:ext cx="2417237" cy="3318935"/>
          </a:xfrm>
          <a:prstGeom prst="roundRect">
            <a:avLst>
              <a:gd name="adj" fmla="val 734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CC103E07-0396-BD95-B6A8-D88F62935DAA}"/>
              </a:ext>
            </a:extLst>
          </p:cNvPr>
          <p:cNvSpPr/>
          <p:nvPr/>
        </p:nvSpPr>
        <p:spPr>
          <a:xfrm>
            <a:off x="9329692" y="2421467"/>
            <a:ext cx="2633133" cy="3871105"/>
          </a:xfrm>
          <a:prstGeom prst="roundRect">
            <a:avLst>
              <a:gd name="adj" fmla="val 734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2" name="Grafik 21" descr="The diagram illustrates a comparison between two routing solutions for a fleet of vehicles, showing the time intervals for various operations such as pick-up and drop-off for both passenger and freight services, with one solution using conventional vehicles and the other using multi-purpose vehicles.&#10;&#10;KI-generierte Inhalte können fehlerhaft sein.">
            <a:extLst>
              <a:ext uri="{FF2B5EF4-FFF2-40B4-BE49-F238E27FC236}">
                <a16:creationId xmlns:a16="http://schemas.microsoft.com/office/drawing/2014/main" id="{01B1647D-C76A-93B2-9D48-45368C8C5A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6" r="49353"/>
          <a:stretch>
            <a:fillRect/>
          </a:stretch>
        </p:blipFill>
        <p:spPr>
          <a:xfrm>
            <a:off x="905557" y="2569248"/>
            <a:ext cx="2049882" cy="1537085"/>
          </a:xfrm>
          <a:prstGeom prst="rect">
            <a:avLst/>
          </a:prstGeom>
        </p:spPr>
      </p:pic>
      <p:pic>
        <p:nvPicPr>
          <p:cNvPr id="23" name="Grafik 22" descr="The diagram illustrates a comparison between two routing solutions for a fleet of vehicles, showing the time intervals for various operations such as pick-up and drop-off for both passenger and freight services, with one solution using conventional vehicles and the other using multi-purpose vehicles.&#10;&#10;KI-generierte Inhalte können fehlerhaft sein.">
            <a:extLst>
              <a:ext uri="{FF2B5EF4-FFF2-40B4-BE49-F238E27FC236}">
                <a16:creationId xmlns:a16="http://schemas.microsoft.com/office/drawing/2014/main" id="{0A78CC7E-BC4E-2002-7024-C7CE90CA2C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0"/>
          <a:stretch>
            <a:fillRect/>
          </a:stretch>
        </p:blipFill>
        <p:spPr>
          <a:xfrm>
            <a:off x="846086" y="4586152"/>
            <a:ext cx="2109353" cy="1537085"/>
          </a:xfrm>
          <a:prstGeom prst="rect">
            <a:avLst/>
          </a:prstGeom>
        </p:spPr>
      </p:pic>
      <p:sp>
        <p:nvSpPr>
          <p:cNvPr id="24" name="Pfeil: nach unten 23">
            <a:extLst>
              <a:ext uri="{FF2B5EF4-FFF2-40B4-BE49-F238E27FC236}">
                <a16:creationId xmlns:a16="http://schemas.microsoft.com/office/drawing/2014/main" id="{94F4C6FF-79A8-9451-2822-D33139141E46}"/>
              </a:ext>
            </a:extLst>
          </p:cNvPr>
          <p:cNvSpPr/>
          <p:nvPr/>
        </p:nvSpPr>
        <p:spPr>
          <a:xfrm>
            <a:off x="1740180" y="4292992"/>
            <a:ext cx="245533" cy="24765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hlinkClick r:id="rId3" tooltip="MAUDE"/>
            <a:extLst>
              <a:ext uri="{FF2B5EF4-FFF2-40B4-BE49-F238E27FC236}">
                <a16:creationId xmlns:a16="http://schemas.microsoft.com/office/drawing/2014/main" id="{26108A1E-E06C-95CD-DD5C-5F748521D097}"/>
              </a:ext>
            </a:extLst>
          </p:cNvPr>
          <p:cNvSpPr txBox="1"/>
          <p:nvPr/>
        </p:nvSpPr>
        <p:spPr>
          <a:xfrm>
            <a:off x="4496782" y="3907165"/>
            <a:ext cx="9970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400" dirty="0"/>
              <a:t>MAUDE</a:t>
            </a:r>
          </a:p>
        </p:txBody>
      </p:sp>
      <p:sp>
        <p:nvSpPr>
          <p:cNvPr id="27" name="Textfeld 26">
            <a:hlinkClick r:id="rId4" tooltip="MAUDE"/>
            <a:extLst>
              <a:ext uri="{FF2B5EF4-FFF2-40B4-BE49-F238E27FC236}">
                <a16:creationId xmlns:a16="http://schemas.microsoft.com/office/drawing/2014/main" id="{EE64211C-FA30-D957-D25B-349FD62C8BAE}"/>
              </a:ext>
            </a:extLst>
          </p:cNvPr>
          <p:cNvSpPr txBox="1"/>
          <p:nvPr/>
        </p:nvSpPr>
        <p:spPr>
          <a:xfrm>
            <a:off x="4604876" y="3429000"/>
            <a:ext cx="7809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400" dirty="0"/>
              <a:t>NEXT</a:t>
            </a:r>
          </a:p>
        </p:txBody>
      </p:sp>
      <p:sp>
        <p:nvSpPr>
          <p:cNvPr id="28" name="Textfeld 27">
            <a:hlinkClick r:id="rId5" tooltip="MAUDE"/>
            <a:extLst>
              <a:ext uri="{FF2B5EF4-FFF2-40B4-BE49-F238E27FC236}">
                <a16:creationId xmlns:a16="http://schemas.microsoft.com/office/drawing/2014/main" id="{9F087B4E-8D11-5AC4-F505-F329095229E1}"/>
              </a:ext>
            </a:extLst>
          </p:cNvPr>
          <p:cNvSpPr txBox="1"/>
          <p:nvPr/>
        </p:nvSpPr>
        <p:spPr>
          <a:xfrm>
            <a:off x="4652921" y="4385330"/>
            <a:ext cx="6848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400" dirty="0"/>
              <a:t>NXT</a:t>
            </a:r>
          </a:p>
        </p:txBody>
      </p:sp>
      <p:pic>
        <p:nvPicPr>
          <p:cNvPr id="30" name="Grafik 29" descr="The image depicts a series of different shaped boxes, each labeled with various acronyms such as IRA, SBA, SBDA, UFCA, LT, IRPA, SBPA, ATA, and MAA.&#10;&#10;KI-generierte Inhalte können fehlerhaft sein.">
            <a:hlinkClick r:id="rId6"/>
            <a:extLst>
              <a:ext uri="{FF2B5EF4-FFF2-40B4-BE49-F238E27FC236}">
                <a16:creationId xmlns:a16="http://schemas.microsoft.com/office/drawing/2014/main" id="{CFAEF198-CDD4-98F6-F7DE-D640087149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4918" y="5028113"/>
            <a:ext cx="2288120" cy="773265"/>
          </a:xfrm>
          <a:prstGeom prst="rect">
            <a:avLst/>
          </a:prstGeom>
        </p:spPr>
      </p:pic>
      <p:sp>
        <p:nvSpPr>
          <p:cNvPr id="31" name="Textfeld 30">
            <a:hlinkClick r:id="rId8" tooltip="MAUDE"/>
            <a:extLst>
              <a:ext uri="{FF2B5EF4-FFF2-40B4-BE49-F238E27FC236}">
                <a16:creationId xmlns:a16="http://schemas.microsoft.com/office/drawing/2014/main" id="{85BD87C1-C38D-FD87-676F-5FC849334061}"/>
              </a:ext>
            </a:extLst>
          </p:cNvPr>
          <p:cNvSpPr txBox="1"/>
          <p:nvPr/>
        </p:nvSpPr>
        <p:spPr>
          <a:xfrm>
            <a:off x="6647952" y="3373580"/>
            <a:ext cx="19398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400" dirty="0"/>
              <a:t>Co-modal VRP </a:t>
            </a:r>
            <a:r>
              <a:rPr lang="de-DE" sz="1400" dirty="0" err="1"/>
              <a:t>assessment</a:t>
            </a:r>
            <a:endParaRPr lang="de-DE" sz="1400" dirty="0"/>
          </a:p>
        </p:txBody>
      </p:sp>
      <p:sp>
        <p:nvSpPr>
          <p:cNvPr id="32" name="Textfeld 31">
            <a:hlinkClick r:id="rId9" tooltip="MAUDE"/>
            <a:extLst>
              <a:ext uri="{FF2B5EF4-FFF2-40B4-BE49-F238E27FC236}">
                <a16:creationId xmlns:a16="http://schemas.microsoft.com/office/drawing/2014/main" id="{CFE97F32-FBD5-AC25-3480-1AF20EC8AFCE}"/>
              </a:ext>
            </a:extLst>
          </p:cNvPr>
          <p:cNvSpPr txBox="1"/>
          <p:nvPr/>
        </p:nvSpPr>
        <p:spPr>
          <a:xfrm>
            <a:off x="6647952" y="4214942"/>
            <a:ext cx="193986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400" dirty="0"/>
              <a:t>Operating </a:t>
            </a:r>
            <a:r>
              <a:rPr lang="de-DE" sz="1400" dirty="0" err="1"/>
              <a:t>capacity</a:t>
            </a:r>
            <a:r>
              <a:rPr lang="de-DE" sz="1400" dirty="0"/>
              <a:t> </a:t>
            </a:r>
            <a:r>
              <a:rPr lang="de-DE" sz="1400" dirty="0" err="1"/>
              <a:t>share</a:t>
            </a:r>
            <a:r>
              <a:rPr lang="de-DE" sz="1400" dirty="0"/>
              <a:t>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co</a:t>
            </a:r>
            <a:r>
              <a:rPr lang="de-DE" sz="1400" dirty="0"/>
              <a:t>-modal </a:t>
            </a:r>
            <a:r>
              <a:rPr lang="de-DE" sz="1400" dirty="0" err="1"/>
              <a:t>vehicles</a:t>
            </a:r>
            <a:endParaRPr lang="de-DE" sz="1400" dirty="0"/>
          </a:p>
        </p:txBody>
      </p:sp>
      <p:sp>
        <p:nvSpPr>
          <p:cNvPr id="33" name="Textfeld 32">
            <a:hlinkClick r:id="rId10" tooltip="MAUDE"/>
            <a:extLst>
              <a:ext uri="{FF2B5EF4-FFF2-40B4-BE49-F238E27FC236}">
                <a16:creationId xmlns:a16="http://schemas.microsoft.com/office/drawing/2014/main" id="{A0706257-486F-BD4B-1CB6-DBC8B6494A2C}"/>
              </a:ext>
            </a:extLst>
          </p:cNvPr>
          <p:cNvSpPr txBox="1"/>
          <p:nvPr/>
        </p:nvSpPr>
        <p:spPr>
          <a:xfrm>
            <a:off x="6636228" y="5271748"/>
            <a:ext cx="19398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400" dirty="0"/>
              <a:t>Pooling </a:t>
            </a:r>
            <a:r>
              <a:rPr lang="de-DE" sz="1400" dirty="0" err="1"/>
              <a:t>of</a:t>
            </a:r>
            <a:r>
              <a:rPr lang="de-DE" sz="1400" dirty="0"/>
              <a:t> Ride + Parcel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272072B2-7235-8E66-ED98-72FE1E575F57}"/>
              </a:ext>
            </a:extLst>
          </p:cNvPr>
          <p:cNvSpPr txBox="1"/>
          <p:nvPr/>
        </p:nvSpPr>
        <p:spPr>
          <a:xfrm>
            <a:off x="9439759" y="2652185"/>
            <a:ext cx="2413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 err="1"/>
              <a:t>What</a:t>
            </a:r>
            <a:r>
              <a:rPr lang="de-DE" sz="1400" dirty="0"/>
              <a:t> </a:t>
            </a:r>
            <a:r>
              <a:rPr lang="de-DE" sz="1400" dirty="0" err="1"/>
              <a:t>is</a:t>
            </a:r>
            <a:r>
              <a:rPr lang="de-DE" sz="1400" dirty="0"/>
              <a:t> a </a:t>
            </a:r>
            <a:r>
              <a:rPr lang="de-DE" sz="1400" dirty="0" err="1"/>
              <a:t>suitable</a:t>
            </a:r>
            <a:r>
              <a:rPr lang="de-DE" sz="1400" dirty="0"/>
              <a:t> </a:t>
            </a:r>
            <a:r>
              <a:rPr lang="de-DE" sz="1400" dirty="0" err="1"/>
              <a:t>architecture</a:t>
            </a:r>
            <a:r>
              <a:rPr lang="de-DE" sz="1400" dirty="0"/>
              <a:t> </a:t>
            </a:r>
            <a:r>
              <a:rPr lang="de-DE" sz="1400" dirty="0" err="1"/>
              <a:t>for</a:t>
            </a:r>
            <a:r>
              <a:rPr lang="de-DE" sz="1400" dirty="0"/>
              <a:t> </a:t>
            </a:r>
            <a:r>
              <a:rPr lang="de-DE" sz="1400" dirty="0" err="1"/>
              <a:t>vehicles</a:t>
            </a:r>
            <a:r>
              <a:rPr lang="de-DE" sz="1400" dirty="0"/>
              <a:t> with </a:t>
            </a:r>
            <a:r>
              <a:rPr lang="de-DE" sz="1400" dirty="0" err="1"/>
              <a:t>co-modality</a:t>
            </a:r>
            <a:r>
              <a:rPr lang="de-DE" sz="1400" dirty="0"/>
              <a:t> in </a:t>
            </a:r>
            <a:r>
              <a:rPr lang="de-DE" sz="1400" dirty="0" err="1"/>
              <a:t>the</a:t>
            </a:r>
            <a:r>
              <a:rPr lang="de-DE" sz="1400" dirty="0"/>
              <a:t> </a:t>
            </a:r>
            <a:r>
              <a:rPr lang="de-DE" sz="1400" dirty="0" err="1"/>
              <a:t>context</a:t>
            </a:r>
            <a:r>
              <a:rPr lang="de-DE" sz="1400" dirty="0"/>
              <a:t>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PureMobility</a:t>
            </a:r>
            <a:r>
              <a:rPr lang="de-DE" sz="1400" dirty="0"/>
              <a:t>?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3FD9A999-2007-982C-38DF-410AD75C01A2}"/>
              </a:ext>
            </a:extLst>
          </p:cNvPr>
          <p:cNvSpPr txBox="1"/>
          <p:nvPr/>
        </p:nvSpPr>
        <p:spPr>
          <a:xfrm>
            <a:off x="9439759" y="3919774"/>
            <a:ext cx="2413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/>
              <a:t>How to </a:t>
            </a:r>
            <a:r>
              <a:rPr lang="de-DE" sz="1400" dirty="0" err="1"/>
              <a:t>generate</a:t>
            </a:r>
            <a:r>
              <a:rPr lang="de-DE" sz="1400" dirty="0"/>
              <a:t> </a:t>
            </a:r>
            <a:r>
              <a:rPr lang="de-DE" sz="1400" dirty="0" err="1"/>
              <a:t>demand</a:t>
            </a:r>
            <a:r>
              <a:rPr lang="de-DE" sz="1400" dirty="0"/>
              <a:t> </a:t>
            </a:r>
            <a:r>
              <a:rPr lang="de-DE" sz="1400" dirty="0" err="1"/>
              <a:t>for</a:t>
            </a:r>
            <a:r>
              <a:rPr lang="de-DE" sz="1400" dirty="0"/>
              <a:t> </a:t>
            </a:r>
            <a:r>
              <a:rPr lang="de-DE" sz="1400" dirty="0" err="1"/>
              <a:t>the</a:t>
            </a:r>
            <a:r>
              <a:rPr lang="de-DE" sz="1400" dirty="0"/>
              <a:t> </a:t>
            </a:r>
            <a:r>
              <a:rPr lang="de-DE" sz="1400" dirty="0" err="1"/>
              <a:t>assessment</a:t>
            </a:r>
            <a:r>
              <a:rPr lang="de-DE" sz="1400" dirty="0"/>
              <a:t>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implementing</a:t>
            </a:r>
            <a:r>
              <a:rPr lang="de-DE" sz="1400" dirty="0"/>
              <a:t> </a:t>
            </a:r>
            <a:r>
              <a:rPr lang="de-DE" sz="1400" dirty="0" err="1"/>
              <a:t>co-modality</a:t>
            </a:r>
            <a:r>
              <a:rPr lang="de-DE" sz="1400" dirty="0"/>
              <a:t> in </a:t>
            </a:r>
            <a:r>
              <a:rPr lang="de-DE" sz="1400" dirty="0" err="1"/>
              <a:t>PureMobility</a:t>
            </a:r>
            <a:r>
              <a:rPr lang="de-DE" sz="1400" dirty="0"/>
              <a:t>?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20A28769-DAD8-F1A6-DE62-F834D0AA779C}"/>
              </a:ext>
            </a:extLst>
          </p:cNvPr>
          <p:cNvSpPr txBox="1"/>
          <p:nvPr/>
        </p:nvSpPr>
        <p:spPr>
          <a:xfrm>
            <a:off x="9435522" y="5169130"/>
            <a:ext cx="241723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/>
              <a:t>How </a:t>
            </a:r>
            <a:r>
              <a:rPr lang="de-DE" sz="1400" dirty="0" err="1"/>
              <a:t>can</a:t>
            </a:r>
            <a:r>
              <a:rPr lang="de-DE" sz="1400" dirty="0"/>
              <a:t> </a:t>
            </a:r>
            <a:r>
              <a:rPr lang="de-DE" sz="1400" dirty="0" err="1"/>
              <a:t>the</a:t>
            </a:r>
            <a:r>
              <a:rPr lang="de-DE" sz="1400" dirty="0"/>
              <a:t> </a:t>
            </a:r>
            <a:r>
              <a:rPr lang="de-DE" sz="1400" dirty="0" err="1"/>
              <a:t>fleet</a:t>
            </a:r>
            <a:r>
              <a:rPr lang="de-DE" sz="1400" dirty="0"/>
              <a:t> </a:t>
            </a:r>
            <a:r>
              <a:rPr lang="de-DE" sz="1400" dirty="0" err="1"/>
              <a:t>management</a:t>
            </a:r>
            <a:r>
              <a:rPr lang="de-DE" sz="1400" dirty="0"/>
              <a:t> with </a:t>
            </a:r>
            <a:r>
              <a:rPr lang="de-DE" sz="1400" dirty="0" err="1"/>
              <a:t>co-modality</a:t>
            </a:r>
            <a:r>
              <a:rPr lang="de-DE" sz="1400" dirty="0"/>
              <a:t> </a:t>
            </a:r>
            <a:r>
              <a:rPr lang="de-DE" sz="1400" dirty="0" err="1"/>
              <a:t>operated</a:t>
            </a:r>
            <a:r>
              <a:rPr lang="de-DE" sz="1400" dirty="0"/>
              <a:t> in </a:t>
            </a:r>
            <a:r>
              <a:rPr lang="de-DE" sz="1400" dirty="0" err="1"/>
              <a:t>PureMobility</a:t>
            </a:r>
            <a:r>
              <a:rPr lang="de-DE" sz="1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78345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3" grpId="0"/>
      <p:bldP spid="14" grpId="0" animBg="1"/>
      <p:bldP spid="15" grpId="0"/>
      <p:bldP spid="16" grpId="0"/>
      <p:bldP spid="17" grpId="0" animBg="1"/>
      <p:bldP spid="19" grpId="0" animBg="1"/>
      <p:bldP spid="20" grpId="0" animBg="1"/>
      <p:bldP spid="24" grpId="0" animBg="1"/>
      <p:bldP spid="26" grpId="0"/>
      <p:bldP spid="27" grpId="0"/>
      <p:bldP spid="28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</Words>
  <Application>Microsoft Office PowerPoint</Application>
  <PresentationFormat>Breitbild</PresentationFormat>
  <Paragraphs>21</Paragraphs>
  <Slides>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Tang</dc:creator>
  <cp:lastModifiedBy>Tom Tang</cp:lastModifiedBy>
  <cp:revision>50</cp:revision>
  <dcterms:created xsi:type="dcterms:W3CDTF">2026-06-07T12:57:09Z</dcterms:created>
  <dcterms:modified xsi:type="dcterms:W3CDTF">2026-06-08T16:18:41Z</dcterms:modified>
</cp:coreProperties>
</file>